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827999"/>
            <a:ext cx="6336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D6452"/>
                </a:solidFill>
                <a:latin typeface="Yu Gothic"/>
              </a:rPr>
              <a:t>京都府警察本部 · 捜査一課</a:t>
            </a:r>
          </a:p>
        </p:txBody>
      </p:sp>
      <p:pic>
        <p:nvPicPr>
          <p:cNvPr id="3" name="Picture 2" descr="logo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000" y="1116000"/>
            <a:ext cx="792000" cy="79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000" y="1584000"/>
            <a:ext cx="6336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2A2620"/>
                </a:solidFill>
                <a:latin typeface="Georgia"/>
              </a:rPr>
              <a:t>La Squadra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" y="2232000"/>
            <a:ext cx="63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2A2620"/>
                </a:solidFill>
                <a:latin typeface="Georgia"/>
              </a:rPr>
              <a:t>Sezione Omicidi — Polizia Prefetturale di Kyoto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252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340">
                <a:solidFill>
                  <a:srgbClr val="A83226"/>
                </a:solidFill>
                <a:latin typeface="Courier New"/>
              </a:rPr>
              <a:t>KYOTO · 1997</a:t>
            </a:r>
          </a:p>
        </p:txBody>
      </p:sp>
      <p:sp>
        <p:nvSpPr>
          <p:cNvPr id="7" name="Rectangle 6"/>
          <p:cNvSpPr/>
          <p:nvPr/>
        </p:nvSpPr>
        <p:spPr>
          <a:xfrm rot="21528000">
            <a:off x="532800" y="3379800"/>
            <a:ext cx="6494400" cy="438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28000">
            <a:off x="612000" y="3459000"/>
            <a:ext cx="6336000" cy="422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200000">
            <a:off x="522000" y="332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400000">
            <a:off x="6426000" y="332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7805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La Sezione Omicidi al completo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Divisione Investigativa · autunno 1997</a:t>
            </a:r>
          </a:p>
        </p:txBody>
      </p:sp>
      <p:sp>
        <p:nvSpPr>
          <p:cNvPr id="12" name="Rectangle 11"/>
          <p:cNvSpPr/>
          <p:nvPr/>
        </p:nvSpPr>
        <p:spPr>
          <a:xfrm rot="21120000">
            <a:off x="5148000" y="1206000"/>
            <a:ext cx="1655999" cy="612000"/>
          </a:xfrm>
          <a:prstGeom prst="rect">
            <a:avLst/>
          </a:prstGeom>
          <a:noFill/>
          <a:ln w="3048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A83226"/>
                </a:solidFill>
                <a:latin typeface="Yu Gothic"/>
              </a:rPr>
              <a:t>機密</a:t>
            </a:r>
          </a:p>
          <a:p>
            <a:pPr algn="ctr"/>
            <a:r>
              <a:rPr sz="750">
                <a:solidFill>
                  <a:srgbClr val="A83226"/>
                </a:solidFill>
                <a:latin typeface="Courier New"/>
              </a:rPr>
              <a:t>RISERVATO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9792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60">
                <a:solidFill>
                  <a:srgbClr val="6D6452"/>
                </a:solidFill>
                <a:latin typeface="Courier New"/>
              </a:rPr>
              <a:t>Album interno — non esce da questa stanza.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La squadra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Cinque teste, un tavolo, troppe sigarette.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1219050" y="1468800"/>
            <a:ext cx="18639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1298250" y="1548000"/>
            <a:ext cx="1705500" cy="227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1208250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2481750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394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YAMAMOTO Kenji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Ispettore Capo · il capo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4477050" y="1468800"/>
            <a:ext cx="18639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4556250" y="1548000"/>
            <a:ext cx="1705500" cy="227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4466250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5739750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0000" y="394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HONDA Ryota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Analista scene del crimine</a:t>
            </a:r>
          </a:p>
        </p:txBody>
      </p:sp>
      <p:sp>
        <p:nvSpPr>
          <p:cNvPr id="16" name="Rectangle 15"/>
          <p:cNvSpPr/>
          <p:nvPr/>
        </p:nvSpPr>
        <p:spPr>
          <a:xfrm rot="21522000">
            <a:off x="1219050" y="4408800"/>
            <a:ext cx="18639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22000">
            <a:off x="1298250" y="4488000"/>
            <a:ext cx="1705500" cy="2274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200000">
            <a:off x="120825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0">
            <a:off x="248175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688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NAKAMURA Shota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Interrogatori · la pazienza</a:t>
            </a:r>
          </a:p>
        </p:txBody>
      </p:sp>
      <p:sp>
        <p:nvSpPr>
          <p:cNvPr id="21" name="Rectangle 20"/>
          <p:cNvSpPr/>
          <p:nvPr/>
        </p:nvSpPr>
        <p:spPr>
          <a:xfrm rot="120000">
            <a:off x="4477050" y="4408800"/>
            <a:ext cx="18639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4556250" y="4488000"/>
            <a:ext cx="1705500" cy="2274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 rot="19200000">
            <a:off x="446625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400000">
            <a:off x="573975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0000" y="688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SATO Yuki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Analisi tracce · il più giovane</a:t>
            </a:r>
          </a:p>
        </p:txBody>
      </p:sp>
      <p:sp>
        <p:nvSpPr>
          <p:cNvPr id="26" name="Rectangle 25"/>
          <p:cNvSpPr/>
          <p:nvPr/>
        </p:nvSpPr>
        <p:spPr>
          <a:xfrm rot="21498000">
            <a:off x="2848050" y="7348800"/>
            <a:ext cx="18639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98000">
            <a:off x="2927250" y="7428000"/>
            <a:ext cx="1705500" cy="2274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 rot="19200000">
            <a:off x="283725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400000">
            <a:off x="411075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1000" y="982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FUJITA Emi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Profiler · legge le persone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Comando e supporto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Chi dà gli ordini e chi guida l'auto.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532800" y="4519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612000" y="4599000"/>
            <a:ext cx="3078000" cy="20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522000" y="446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3168000" y="446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6773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TANIGUCHI Osamu — Commissario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Trent'anni dietro la stessa scrivania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3790800" y="3493800"/>
            <a:ext cx="3236400" cy="426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3870000" y="3573000"/>
            <a:ext cx="3078000" cy="410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3780000" y="3439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6426000" y="3439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0000" y="7799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YAMADA Tetsuo — Accompagnatore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«Se posso permettermi...» Il taccuino sempre in mano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Il distretto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京都府警察本部 — il posto di lavoro.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2006026" y="1468800"/>
            <a:ext cx="3547947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2085226" y="1548000"/>
            <a:ext cx="3389547" cy="227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1995226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4952773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3944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La Centrale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Kawaramachi 85 · Sezione Omicidi, secondo piano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2006026" y="4408800"/>
            <a:ext cx="3547947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2085226" y="4488000"/>
            <a:ext cx="3389547" cy="227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1995226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4952773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6884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L'ōbeya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Scrivanie accostate, dove si vive la giornata</a:t>
            </a:r>
          </a:p>
        </p:txBody>
      </p:sp>
      <p:sp>
        <p:nvSpPr>
          <p:cNvPr id="16" name="Rectangle 15"/>
          <p:cNvSpPr/>
          <p:nvPr/>
        </p:nvSpPr>
        <p:spPr>
          <a:xfrm rot="21522000">
            <a:off x="1616300" y="7348800"/>
            <a:ext cx="43274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22000">
            <a:off x="1695500" y="7428000"/>
            <a:ext cx="4169000" cy="2274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200000">
            <a:off x="160550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0">
            <a:off x="534250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9824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La bacheca all'ingresso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Ricercati, avvisi, la vita del quartiere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Sul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Gli indizi si danno sempre. Il dado no.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532800" y="2314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612000" y="2394000"/>
            <a:ext cx="3078000" cy="20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522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3168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4568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Il muro del caso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Foto, la mappa di Kyoto, un filo rosso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3790800" y="2314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3870000" y="2394000"/>
            <a:ext cx="3078000" cy="205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3780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6426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0000" y="4568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Fine turno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Il tesserino, le manette, il caffè freddo</a:t>
            </a:r>
          </a:p>
        </p:txBody>
      </p:sp>
      <p:sp>
        <p:nvSpPr>
          <p:cNvPr id="16" name="Rectangle 15"/>
          <p:cNvSpPr/>
          <p:nvPr/>
        </p:nvSpPr>
        <p:spPr>
          <a:xfrm rot="21522000">
            <a:off x="532800" y="6596550"/>
            <a:ext cx="3236400" cy="24669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22000">
            <a:off x="612000" y="6675750"/>
            <a:ext cx="3078000" cy="2308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200000">
            <a:off x="522000" y="654255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0">
            <a:off x="3168000" y="654255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910665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New Nambu M60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.38, cinque colpi · resta in armadietto</a:t>
            </a:r>
          </a:p>
        </p:txBody>
      </p:sp>
      <p:sp>
        <p:nvSpPr>
          <p:cNvPr id="21" name="Rectangle 20"/>
          <p:cNvSpPr/>
          <p:nvPr/>
        </p:nvSpPr>
        <p:spPr>
          <a:xfrm rot="120000">
            <a:off x="3790800" y="6884652"/>
            <a:ext cx="3236400" cy="1890695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3870000" y="6963852"/>
            <a:ext cx="3078000" cy="173229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 rot="19200000">
            <a:off x="3780000" y="6830652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400000">
            <a:off x="6426000" y="6830652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0000" y="8818547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Il kōban all'angolo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Il primo presidio, sempre acceso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Fuori servizio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La squadra ha la stessa carne dei casi che chiude.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1995300" y="1468800"/>
            <a:ext cx="35694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2074500" y="1548000"/>
            <a:ext cx="3411000" cy="227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1984500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4963500" y="141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3944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Un compleanno in mensa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Candeline spente al secondo soffio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1995300" y="4408800"/>
            <a:ext cx="35694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2074500" y="4488000"/>
            <a:ext cx="3411000" cy="227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198450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496350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6884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Caso chiuso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Il primo brindisi è sempre il più buono. Kanpai</a:t>
            </a:r>
          </a:p>
        </p:txBody>
      </p:sp>
      <p:sp>
        <p:nvSpPr>
          <p:cNvPr id="16" name="Rectangle 15"/>
          <p:cNvSpPr/>
          <p:nvPr/>
        </p:nvSpPr>
        <p:spPr>
          <a:xfrm rot="21522000">
            <a:off x="1995300" y="7348800"/>
            <a:ext cx="356940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22000">
            <a:off x="2074500" y="7428000"/>
            <a:ext cx="3411000" cy="2274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200000">
            <a:off x="198450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0">
            <a:off x="496350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9824400"/>
            <a:ext cx="6336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L'encomio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In fila, sull'attenti, un inchino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La città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Kyoto, 1997. Il mondo continua, fuori dal fascicolo.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532800" y="1579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612000" y="1659000"/>
            <a:ext cx="3078000" cy="20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522000" y="152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3168000" y="152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3833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Il Kamo, di pomeriggio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Dove si va a non pensare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3790800" y="1579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3870000" y="1659000"/>
            <a:ext cx="3078000" cy="205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3780000" y="152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6426000" y="152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0000" y="3833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Lo shōtengai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Sotto la tettoia, la città che compra</a:t>
            </a:r>
          </a:p>
        </p:txBody>
      </p:sp>
      <p:sp>
        <p:nvSpPr>
          <p:cNvPr id="16" name="Rectangle 15"/>
          <p:cNvSpPr/>
          <p:nvPr/>
        </p:nvSpPr>
        <p:spPr>
          <a:xfrm rot="21522000">
            <a:off x="532800" y="4519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22000">
            <a:off x="612000" y="4599000"/>
            <a:ext cx="3078000" cy="2052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200000">
            <a:off x="522000" y="446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0">
            <a:off x="3168000" y="4465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6773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L'incrocio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Kawaramachi, traffico e cavi</a:t>
            </a:r>
          </a:p>
        </p:txBody>
      </p:sp>
      <p:sp>
        <p:nvSpPr>
          <p:cNvPr id="21" name="Rectangle 20"/>
          <p:cNvSpPr/>
          <p:nvPr/>
        </p:nvSpPr>
        <p:spPr>
          <a:xfrm rot="120000">
            <a:off x="4480840" y="4408800"/>
            <a:ext cx="185632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4560040" y="4488000"/>
            <a:ext cx="1697920" cy="2274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 rot="19200000">
            <a:off x="447004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400000">
            <a:off x="5735960" y="435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0000" y="688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Pontochō, dopo la pioggia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Lanterne, un taxi, i riflessi</a:t>
            </a:r>
          </a:p>
        </p:txBody>
      </p:sp>
      <p:sp>
        <p:nvSpPr>
          <p:cNvPr id="26" name="Rectangle 25"/>
          <p:cNvSpPr/>
          <p:nvPr/>
        </p:nvSpPr>
        <p:spPr>
          <a:xfrm rot="21498000">
            <a:off x="2851840" y="7348800"/>
            <a:ext cx="1856320" cy="2432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98000">
            <a:off x="2931040" y="7428000"/>
            <a:ext cx="1697920" cy="2274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 rot="19200000">
            <a:off x="284104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400000">
            <a:off x="4106960" y="7294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1000" y="9824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Il nostro posto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La lanterna è sempre accesa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000" y="540000"/>
            <a:ext cx="63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spc="320">
                <a:solidFill>
                  <a:srgbClr val="A83226"/>
                </a:solidFill>
                <a:latin typeface="Courier New"/>
              </a:rPr>
              <a:t>捜査一課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720000"/>
            <a:ext cx="633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A2620"/>
                </a:solidFill>
                <a:latin typeface="Georgia"/>
              </a:rPr>
              <a:t>Dove finisce un ispettore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080000"/>
            <a:ext cx="6336000" cy="20320"/>
          </a:xfrm>
          <a:prstGeom prst="rect">
            <a:avLst/>
          </a:prstGeom>
          <a:solidFill>
            <a:srgbClr val="3B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098000"/>
            <a:ext cx="63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 spc="50">
                <a:solidFill>
                  <a:srgbClr val="6D6452"/>
                </a:solidFill>
                <a:latin typeface="Courier New"/>
              </a:rPr>
              <a:t>L'altra Kyoto — quella fuori dalle cartoline.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532800" y="2314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612000" y="2394000"/>
            <a:ext cx="3078000" cy="205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 rot="19200000">
            <a:off x="522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400000">
            <a:off x="3168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4568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La periferia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Danchi, panni stesi, biciclette arrugginite</a:t>
            </a:r>
          </a:p>
        </p:txBody>
      </p:sp>
      <p:sp>
        <p:nvSpPr>
          <p:cNvPr id="11" name="Rectangle 10"/>
          <p:cNvSpPr/>
          <p:nvPr/>
        </p:nvSpPr>
        <p:spPr>
          <a:xfrm rot="96000">
            <a:off x="3790800" y="2314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">
            <a:off x="3870000" y="2394000"/>
            <a:ext cx="3078000" cy="205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200000">
            <a:off x="3780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400000">
            <a:off x="6426000" y="226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0000" y="4568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Il vicolo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Neon rotti, porte scure, pioggia</a:t>
            </a:r>
          </a:p>
        </p:txBody>
      </p:sp>
      <p:sp>
        <p:nvSpPr>
          <p:cNvPr id="16" name="Rectangle 15"/>
          <p:cNvSpPr/>
          <p:nvPr/>
        </p:nvSpPr>
        <p:spPr>
          <a:xfrm rot="21522000">
            <a:off x="532800" y="6724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22000">
            <a:off x="612000" y="6804000"/>
            <a:ext cx="3078000" cy="2052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200000">
            <a:off x="522000" y="667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0">
            <a:off x="3168000" y="667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8978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La zona industriale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Magazzini, un lampione al sodio, il silenzio</a:t>
            </a:r>
          </a:p>
        </p:txBody>
      </p:sp>
      <p:sp>
        <p:nvSpPr>
          <p:cNvPr id="21" name="Rectangle 20"/>
          <p:cNvSpPr/>
          <p:nvPr/>
        </p:nvSpPr>
        <p:spPr>
          <a:xfrm rot="120000">
            <a:off x="3790800" y="6724800"/>
            <a:ext cx="3236400" cy="221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3870000" y="6804000"/>
            <a:ext cx="3078000" cy="2052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 rot="19200000">
            <a:off x="3780000" y="667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400000">
            <a:off x="6426000" y="6670800"/>
            <a:ext cx="612000" cy="180000"/>
          </a:xfrm>
          <a:prstGeom prst="rect">
            <a:avLst/>
          </a:prstGeom>
          <a:solidFill>
            <a:srgbClr val="E7D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0000" y="8978400"/>
            <a:ext cx="30780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2A2620"/>
                </a:solidFill>
                <a:latin typeface="Georgia"/>
              </a:rPr>
              <a:t>Il sottopasso</a:t>
            </a:r>
          </a:p>
          <a:p>
            <a:pPr algn="ctr">
              <a:lnSpc>
                <a:spcPct val="105000"/>
              </a:lnSpc>
            </a:pPr>
            <a:r>
              <a:rPr sz="850" b="0" i="0" spc="40">
                <a:solidFill>
                  <a:srgbClr val="6D6452"/>
                </a:solidFill>
                <a:latin typeface="Courier New"/>
              </a:rPr>
              <a:t>Dietro i binari, dove la città dimentica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